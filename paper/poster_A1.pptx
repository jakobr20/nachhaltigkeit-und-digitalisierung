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2138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32"/>
  </p:normalViewPr>
  <p:slideViewPr>
    <p:cSldViewPr snapToGrid="0" snapToObjects="1">
      <p:cViewPr>
        <p:scale>
          <a:sx n="81" d="100"/>
          <a:sy n="81" d="100"/>
        </p:scale>
        <p:origin x="832" y="-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2743200"/>
          </a:xfrm>
          <a:prstGeom prst="rect">
            <a:avLst/>
          </a:prstGeom>
          <a:solidFill>
            <a:srgbClr val="47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02919" y="-548640"/>
            <a:ext cx="1280160" cy="1280160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9498544" y="-548640"/>
            <a:ext cx="1280160" cy="1280160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914399" y="-960119"/>
            <a:ext cx="2103120" cy="2103120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9087064" y="-960119"/>
            <a:ext cx="2103120" cy="2103120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-1325880" y="-1371600"/>
            <a:ext cx="2926080" cy="2926080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675584" y="-1371600"/>
            <a:ext cx="2926080" cy="2926080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-1737360" y="-1783079"/>
            <a:ext cx="3749039" cy="3749039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8264104" y="-1783079"/>
            <a:ext cx="3749039" cy="3749039"/>
          </a:xfrm>
          <a:prstGeom prst="ellipse">
            <a:avLst/>
          </a:prstGeom>
          <a:noFill/>
          <a:ln w="508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0"/>
            <a:ext cx="24789384" cy="1554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KI-gestützte Anomalieerkennung in Smart-Meter-Daten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24789384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Ensemble-Methoden und LLM-gestützte Handlungsempfehlungen für das gewerbliche Energiemanagement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926080"/>
            <a:ext cx="26618184" cy="1417320"/>
          </a:xfrm>
          <a:prstGeom prst="roundRect">
            <a:avLst>
              <a:gd name="adj" fmla="val 6000"/>
            </a:avLst>
          </a:prstGeom>
          <a:solidFill>
            <a:srgbClr val="E3D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3044952"/>
            <a:ext cx="9144000" cy="11887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Autoren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Felix Zorn  ·  Jakob Ringel</a:t>
            </a:r>
          </a:p>
        </p:txBody>
      </p:sp>
      <p:sp>
        <p:nvSpPr>
          <p:cNvPr id="15" name="Oval 14"/>
          <p:cNvSpPr/>
          <p:nvPr/>
        </p:nvSpPr>
        <p:spPr>
          <a:xfrm>
            <a:off x="14356080" y="2788920"/>
            <a:ext cx="1691640" cy="1691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356080" y="2788920"/>
            <a:ext cx="1691640" cy="16916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477B9D"/>
                </a:solidFill>
                <a:latin typeface="Arial"/>
              </a:rPr>
              <a:t>THWS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0" y="3044952"/>
            <a:ext cx="10058400" cy="11887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Zugehörigkeit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Fakultät für Wirtschaftsingenieurwesen, THWS  ·  Modul „Nachhaltigkeit und Digitalisierung“ (Prof. Dr. M. Müßig)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9144000" cy="3977639"/>
          </a:xfrm>
          <a:prstGeom prst="rect">
            <a:avLst/>
          </a:prstGeom>
          <a:noFill/>
          <a:ln w="25400">
            <a:solidFill>
              <a:srgbClr val="C99D4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1"/>
            <a:ext cx="86868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B2B"/>
                </a:solidFill>
                <a:latin typeface="Arial"/>
              </a:rPr>
              <a:t>Einführung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715000"/>
            <a:ext cx="8595360" cy="27431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Der Smart-Meter-Rollout nach dem GNDEW (2023) macht 15-Minuten-Lastgänge gewerblicher Liegenschaften flächendeckend verfügbar. Vermeidbarer Verbrauch — etwa durch fehlerhafte Anlagensteuerung oder fehlende Nachtabsenkung — bleibt ohne systematische Analyse jedoch unentdeckt und verursacht unnötige Kosten und Emissionen.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Etablierte Detektionsverfahren liefern zudem meist nur ein Flag — ohne Begründung, ohne Kostenbezug und ohne konkrete Handlungsoption. Wir haben untersucht, wie sich auffällige Lastgänge nicht nur zuverlässig erkennen, sondern auch automatisch in erklärbare, priorisierte Maßnahmen überführen lassen.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8915400"/>
            <a:ext cx="9144000" cy="4983480"/>
          </a:xfrm>
          <a:prstGeom prst="rect">
            <a:avLst/>
          </a:prstGeom>
          <a:solidFill>
            <a:srgbClr val="EDEDED"/>
          </a:solidFill>
          <a:ln w="25400">
            <a:solidFill>
              <a:srgbClr val="C99D4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8915400"/>
            <a:ext cx="9144000" cy="4983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8A8A8A"/>
                </a:solidFill>
                <a:latin typeface="Arial"/>
              </a:rPr>
              <a:t>Cost-First-Dashboard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9A9A9A"/>
                </a:solidFill>
                <a:latin typeface="Calibri"/>
              </a:rPr>
              <a:t>Screenshot hier einfügen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0"/>
            <a:ext cx="9144000" cy="4937760"/>
          </a:xfrm>
          <a:prstGeom prst="rect">
            <a:avLst/>
          </a:prstGeom>
          <a:noFill/>
          <a:ln w="25400">
            <a:solidFill>
              <a:srgbClr val="C99D4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14337792"/>
            <a:ext cx="86868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B2B"/>
                </a:solidFill>
                <a:latin typeface="Arial"/>
              </a:rPr>
              <a:t>Zielsetzung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15224759"/>
            <a:ext cx="8595360" cy="3703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Wir haben untersucht, ob sich Anomalien in gewerblichen Lastgängen erklärbar erkennen lassen — je Standort, aber ohne ein eigenes Modell pro Filiale — und automatisch in priorisierte, kostenbewertete Handlungsempfehlungen überführen lassen.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1" dirty="0">
                <a:solidFill>
                  <a:srgbClr val="21384E"/>
                </a:solidFill>
                <a:latin typeface="Calibri"/>
              </a:rPr>
              <a:t>Hypothese: Ein Ensemble komplementärer Methoden erkennt Lastgang-Anomalien zuverlässiger als jede Einzelmethode; eine lokal betriebene LLM-Schicht übersetzt die Funde in konkrete, nachvollziehbare Maßnahmen für das Energiemanagement.</a:t>
            </a:r>
          </a:p>
        </p:txBody>
      </p:sp>
      <p:pic>
        <p:nvPicPr>
          <p:cNvPr id="26" name="Picture 25" descr="anomalie_beisp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262" y="4663440"/>
            <a:ext cx="4814316" cy="3703320"/>
          </a:xfrm>
          <a:prstGeom prst="rect">
            <a:avLst/>
          </a:prstGeom>
        </p:spPr>
      </p:pic>
      <p:pic>
        <p:nvPicPr>
          <p:cNvPr id="27" name="Picture 26" descr="schweregrad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8735" y="4663440"/>
            <a:ext cx="4621209" cy="37033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0058400" y="8595360"/>
            <a:ext cx="9966960" cy="7360920"/>
          </a:xfrm>
          <a:prstGeom prst="rect">
            <a:avLst/>
          </a:prstGeom>
          <a:noFill/>
          <a:ln w="3175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8732520"/>
            <a:ext cx="94183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B2B"/>
                </a:solidFill>
                <a:latin typeface="Arial"/>
              </a:rPr>
              <a:t>Methodik</a:t>
            </a:r>
          </a:p>
        </p:txBody>
      </p:sp>
      <p:sp>
        <p:nvSpPr>
          <p:cNvPr id="30" name="Oval 29"/>
          <p:cNvSpPr/>
          <p:nvPr/>
        </p:nvSpPr>
        <p:spPr>
          <a:xfrm>
            <a:off x="10469880" y="9601200"/>
            <a:ext cx="777240" cy="777240"/>
          </a:xfrm>
          <a:prstGeom prst="ellipse">
            <a:avLst/>
          </a:prstGeom>
          <a:solidFill>
            <a:srgbClr val="47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69880" y="9601200"/>
            <a:ext cx="77724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9491472"/>
            <a:ext cx="8138160" cy="12344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 err="1">
                <a:solidFill>
                  <a:srgbClr val="2B2B2B"/>
                </a:solidFill>
                <a:latin typeface="Calibri"/>
              </a:rPr>
              <a:t>Datengrundlage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: 22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Baumarktfilialen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+ 1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Sonderstandort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, RLM-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Lastgänge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im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15-Minuten-Takt (2023–2026);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zeitlicher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Train/Test-Split an 2025-01-01.</a:t>
            </a:r>
          </a:p>
        </p:txBody>
      </p:sp>
      <p:sp>
        <p:nvSpPr>
          <p:cNvPr id="33" name="Oval 32"/>
          <p:cNvSpPr/>
          <p:nvPr/>
        </p:nvSpPr>
        <p:spPr>
          <a:xfrm>
            <a:off x="10469880" y="10881360"/>
            <a:ext cx="777240" cy="777240"/>
          </a:xfrm>
          <a:prstGeom prst="ellipse">
            <a:avLst/>
          </a:prstGeom>
          <a:solidFill>
            <a:srgbClr val="47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0881360"/>
            <a:ext cx="77724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10771632"/>
            <a:ext cx="8138160" cy="12344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 err="1">
                <a:solidFill>
                  <a:srgbClr val="2B2B2B"/>
                </a:solidFill>
                <a:latin typeface="Calibri"/>
              </a:rPr>
              <a:t>Vorverarbeitung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: STL-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Zerlegung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und Feature-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Bildung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je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Standort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als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gemeinsame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Basis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aller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Detektoren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36" name="Oval 35"/>
          <p:cNvSpPr/>
          <p:nvPr/>
        </p:nvSpPr>
        <p:spPr>
          <a:xfrm>
            <a:off x="10469880" y="12161520"/>
            <a:ext cx="777240" cy="777240"/>
          </a:xfrm>
          <a:prstGeom prst="ellipse">
            <a:avLst/>
          </a:prstGeom>
          <a:solidFill>
            <a:srgbClr val="47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69880" y="12161520"/>
            <a:ext cx="77724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12051792"/>
            <a:ext cx="8138160" cy="12344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Vier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Detektoren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parallel: Z-Score (STL-Residuum), ARIMA je Cluster, Cluster-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Distanz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, Autoencoder (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Dense+LSTM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39" name="Oval 38"/>
          <p:cNvSpPr/>
          <p:nvPr/>
        </p:nvSpPr>
        <p:spPr>
          <a:xfrm>
            <a:off x="10469880" y="13441680"/>
            <a:ext cx="777240" cy="777240"/>
          </a:xfrm>
          <a:prstGeom prst="ellipse">
            <a:avLst/>
          </a:prstGeom>
          <a:solidFill>
            <a:srgbClr val="47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69880" y="13441680"/>
            <a:ext cx="77724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13331952"/>
            <a:ext cx="8138160" cy="12344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Union-Ensemble: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Zusammenführung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der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Methoden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;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Vergleich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über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paarweises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Cohen’s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κ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und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manuelle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Plausibilitätsannotation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42" name="Oval 41"/>
          <p:cNvSpPr/>
          <p:nvPr/>
        </p:nvSpPr>
        <p:spPr>
          <a:xfrm>
            <a:off x="10469880" y="14721840"/>
            <a:ext cx="777240" cy="777240"/>
          </a:xfrm>
          <a:prstGeom prst="ellipse">
            <a:avLst/>
          </a:prstGeom>
          <a:solidFill>
            <a:srgbClr val="47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69880" y="14721840"/>
            <a:ext cx="77724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14612112"/>
            <a:ext cx="8138160" cy="12344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>
                <a:solidFill>
                  <a:srgbClr val="2B2B2B"/>
                </a:solidFill>
                <a:latin typeface="Calibri"/>
              </a:rPr>
              <a:t>LLM-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Empfehlung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: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lokales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Qwen 2.5 7B (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Ollama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)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erzeugt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strukturierte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JSON-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Empfehlungen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aus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Kontext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 (Wetter,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Strompreis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 xml:space="preserve">,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Mehrkosten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pic>
        <p:nvPicPr>
          <p:cNvPr id="45" name="Picture 44" descr="kappa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5768" y="16184880"/>
            <a:ext cx="3497303" cy="3017520"/>
          </a:xfrm>
          <a:prstGeom prst="rect">
            <a:avLst/>
          </a:prstGeom>
        </p:spPr>
      </p:pic>
      <p:pic>
        <p:nvPicPr>
          <p:cNvPr id="46" name="Picture 45" descr="inferenzkost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3320" y="16328350"/>
            <a:ext cx="4892040" cy="2730578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20391120" y="4663440"/>
            <a:ext cx="9326880" cy="3657600"/>
          </a:xfrm>
          <a:prstGeom prst="rect">
            <a:avLst/>
          </a:prstGeom>
          <a:noFill/>
          <a:ln w="25400">
            <a:solidFill>
              <a:srgbClr val="C99D4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0619720" y="4828031"/>
            <a:ext cx="8869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B2B"/>
                </a:solidFill>
                <a:latin typeface="Arial"/>
              </a:rPr>
              <a:t>Ergebnis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665440" y="5715000"/>
            <a:ext cx="8778240" cy="24231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Die vier Methoden sind weitgehend disjunkt: paarweises Cohen’s κ ≈ 0 (max. 0,11 zwischen ARIMA und Autoencoder) — kein Einzelsieger, die Verfahren decken unterschiedliche Anomalietypen ab und ergänzen sich.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Auf den 66 manuell von zwei Gutachtern geprüften Top-Kandidaten erreicht jede der vier Methoden 100 % Precision — die markierten Lastgänge waren durchweg plausibel anomal.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391120" y="8595360"/>
            <a:ext cx="9326880" cy="4160520"/>
          </a:xfrm>
          <a:prstGeom prst="rect">
            <a:avLst/>
          </a:prstGeom>
          <a:noFill/>
          <a:ln w="25400">
            <a:solidFill>
              <a:srgbClr val="C99D4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0619720" y="8759952"/>
            <a:ext cx="8869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B2B"/>
                </a:solidFill>
                <a:latin typeface="Arial"/>
              </a:rPr>
              <a:t>Auswertung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665440" y="9646920"/>
            <a:ext cx="8778240" cy="29260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Die geringe Überlappung bestätigt die Hypothese: Erst das Ensemble deckt das volle Spektrum der Anomalietypen ab — von kurzen Lastspitzen bis zu dauerhaft überhöhter Grundlast.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Die LLM-Schicht lieferte 66/66 valide Empfehlungen (0 Schemafehler) in rund 8 Minuten Gesamtlaufzeit, mit differenzierter Schweregradverteilung (32 / 25 / 9) — kein „alles hoch“-Bias.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Beispiel: ein Baumarkt zog nachts 72,6 kW statt erwarteter 8,0 kW (+807 %); die lokale LLM-Schicht ordnete dies einer durchlaufenden Anlagensteuerung zu und schätzte die Mehrkosten.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391120" y="13075920"/>
            <a:ext cx="9326880" cy="6035040"/>
          </a:xfrm>
          <a:prstGeom prst="rect">
            <a:avLst/>
          </a:prstGeom>
          <a:solidFill>
            <a:srgbClr val="F1EBDD"/>
          </a:solidFill>
          <a:ln w="38100">
            <a:solidFill>
              <a:srgbClr val="C99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619720" y="13240512"/>
            <a:ext cx="8869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1384E"/>
                </a:solidFill>
                <a:latin typeface="Arial"/>
              </a:rPr>
              <a:t>Schlussfolgerung &amp; Ausblick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665440" y="14127480"/>
            <a:ext cx="8778240" cy="4800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Ein Ensemble aus vier Detektoren plus lokaler LLM-Schicht erkennt Lastgang-Anomalien plausibel und liefert erklärbare, kostenbewertete Handlungsempfehlungen. Die Erkennung erfolgt je Standort, ohne ein eigenes Modell pro Filiale: ARIMA und Cluster-Distanz arbeiten cluster-basiert, der Autoencoder kategoriebasiert mit Pro-Standort-Normierung.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Praxis: priorisierte Maßnahmen und ein Schwellwert-Regler ohne Neu-Inferenz. Nachhaltigkeit: Das LLM läuft lokal, ohne Cloud-Datenabfluss und ohne Trainings-Energieaufwand (SDG 7 &amp; 9).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lang="de-DE" sz="1900" b="0" i="0" dirty="0">
                <a:solidFill>
                  <a:srgbClr val="2B2B2B"/>
                </a:solidFill>
                <a:latin typeface="Calibri"/>
              </a:rPr>
              <a:t>Limitation: Exakte Postleitzahlen je Standort lagen nicht vor; der Wetterkontext stützt sich auf eine einzelne Referenzstation. Ausblick: Übertragung auf weitere Standortkategorien wie Tankstellen und Bürogebäude.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19476720"/>
            <a:ext cx="29178504" cy="1417320"/>
          </a:xfrm>
          <a:prstGeom prst="roundRect">
            <a:avLst>
              <a:gd name="adj" fmla="val 6000"/>
            </a:avLst>
          </a:prstGeom>
          <a:solidFill>
            <a:srgbClr val="E3D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19586448"/>
            <a:ext cx="29178504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Quellen &amp; Danksagung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20162520"/>
            <a:ext cx="17373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Chandola, Banerjee &amp; Kumar (2009): Anomaly Detection: A Survey  ·  Cleveland et al. (1990): STL-Dekomposition.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836640" y="20162520"/>
            <a:ext cx="10515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Datengrundlage und methodisches Feedback: Industriepartner aus dem Energiebereich.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Macintosh PowerPoint</Application>
  <PresentationFormat>Benutzerdefiniert</PresentationFormat>
  <Paragraphs>40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Jakob Ringel</cp:lastModifiedBy>
  <cp:revision>2</cp:revision>
  <dcterms:created xsi:type="dcterms:W3CDTF">2013-01-27T09:14:16Z</dcterms:created>
  <dcterms:modified xsi:type="dcterms:W3CDTF">2026-06-13T21:36:35Z</dcterms:modified>
  <cp:category/>
</cp:coreProperties>
</file>