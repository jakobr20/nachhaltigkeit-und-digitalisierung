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999" cy="2138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5999" cy="309600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4000" rIns="144000" tIns="144000" bIns="14400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0000" y="432000"/>
            <a:ext cx="3240000" cy="223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44000" bIns="144000"/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007AFF"/>
                </a:solidFill>
                <a:latin typeface="Calibri"/>
              </a:rPr>
              <a:t>THWS</a:t>
            </a:r>
          </a:p>
          <a:p>
            <a:pPr algn="ctr">
              <a:spcAft>
                <a:spcPts val="800"/>
              </a:spcAft>
            </a:pPr>
            <a:r>
              <a:rPr sz="1400" b="0">
                <a:solidFill>
                  <a:srgbClr val="8E8E93"/>
                </a:solidFill>
                <a:latin typeface="Calibri"/>
              </a:rPr>
              <a:t>Logo-Platzhalter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40000" y="324000"/>
            <a:ext cx="25560000" cy="266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1C1C1E"/>
                </a:solidFill>
                <a:latin typeface="Calibri"/>
              </a:rPr>
              <a:t>KI-gestützte Anomalieerkennung in Smart-Meter-Daten</a:t>
            </a:r>
          </a:p>
          <a:p>
            <a:pPr algn="ctr">
              <a:spcAft>
                <a:spcPts val="800"/>
              </a:spcAft>
            </a:pPr>
            <a:r>
              <a:rPr sz="3000" b="0">
                <a:solidFill>
                  <a:srgbClr val="007AFF"/>
                </a:solidFill>
                <a:latin typeface="Calibri"/>
              </a:rPr>
              <a:t>Ensemble-Methoden und LLM-Handlungsempfehlungen für das Energiemanagement</a:t>
            </a:r>
          </a:p>
          <a:p>
            <a:pPr algn="ctr">
              <a:spcAft>
                <a:spcPts val="800"/>
              </a:spcAft>
            </a:pPr>
            <a:r>
              <a:rPr sz="2200" b="0">
                <a:solidFill>
                  <a:srgbClr val="8E8E93"/>
                </a:solidFill>
                <a:latin typeface="Calibri"/>
              </a:rPr>
              <a:t>Felix Zorn · Jakob Ringel   |   Modul „Nachhaltigkeit und Digitalisierung“ · Prof. Dr. M. Müßig · FIW · THWS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3456000"/>
            <a:ext cx="9360000" cy="503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07AFF"/>
                </a:solidFill>
                <a:latin typeface="Calibri"/>
              </a:rPr>
              <a:t>1 · Einführung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960000"/>
            <a:ext cx="9360000" cy="226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1C1C1E"/>
                </a:solidFill>
                <a:latin typeface="Calibri"/>
              </a:rPr>
              <a:t>Der Smart-Meter-Rollout (GNDEW 2023) macht 15-min-Lastgänge gewerblicher Liegenschaften verfügbar. Vermeidbarer Verbrauch bleibt ohne Analyse unsichtbar.</a:t>
            </a:r>
          </a:p>
          <a:p>
            <a:pPr algn="l">
              <a:spcAft>
                <a:spcPts val="800"/>
              </a:spcAft>
            </a:pPr>
            <a:r>
              <a:rPr sz="2400" b="1">
                <a:solidFill>
                  <a:srgbClr val="1C1C1E"/>
                </a:solidFill>
                <a:latin typeface="Calibri"/>
              </a:rPr>
              <a:t>Ziel: </a:t>
            </a:r>
            <a:r>
              <a:rPr sz="2400" b="0">
                <a:solidFill>
                  <a:srgbClr val="1C1C1E"/>
                </a:solidFill>
                <a:latin typeface="Calibri"/>
              </a:rPr>
              <a:t>erklärbare, übertragbare Anomalie-Erkennung mit automatisierten Handlungsempfehlungen.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6336000"/>
            <a:ext cx="9360000" cy="1944000"/>
          </a:xfrm>
          <a:prstGeom prst="roundRect">
            <a:avLst/>
          </a:prstGeom>
          <a:solidFill>
            <a:srgbClr val="E5F0FF"/>
          </a:solidFill>
          <a:ln w="1905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44000" bIns="144000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7AFF"/>
                </a:solidFill>
                <a:latin typeface="Calibri"/>
              </a:rPr>
              <a:t>Hypothese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C1C1E"/>
                </a:solidFill>
                <a:latin typeface="Calibri"/>
              </a:rPr>
              <a:t>Ein Ensemble komplementärer Methoden erkennt Lastgang-Anomalien zuverlässiger als jede Einzelmethode – und eine lokale LLM-Schicht überführt sie in konkrete Maßnahmen.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8567999"/>
            <a:ext cx="9360000" cy="503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07AFF"/>
                </a:solidFill>
                <a:latin typeface="Calibri"/>
              </a:rPr>
              <a:t>2 · Methode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9072000"/>
            <a:ext cx="9360000" cy="259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1C1C1E"/>
                </a:solidFill>
                <a:latin typeface="Calibri"/>
              </a:rPr>
              <a:t>Stichprobe: </a:t>
            </a:r>
            <a:r>
              <a:rPr sz="2400" b="0">
                <a:solidFill>
                  <a:srgbClr val="1C1C1E"/>
                </a:solidFill>
                <a:latin typeface="Calibri"/>
              </a:rPr>
              <a:t>22 Baumarktfilialen + 1 Sonderfall, RLM 15-min, 2023–2026.</a:t>
            </a:r>
          </a:p>
          <a:p>
            <a:pPr algn="l">
              <a:spcAft>
                <a:spcPts val="800"/>
              </a:spcAft>
            </a:pPr>
            <a:r>
              <a:rPr sz="2400" b="1">
                <a:solidFill>
                  <a:srgbClr val="1C1C1E"/>
                </a:solidFill>
                <a:latin typeface="Calibri"/>
              </a:rPr>
              <a:t>Design: </a:t>
            </a:r>
            <a:r>
              <a:rPr sz="2400" b="0">
                <a:solidFill>
                  <a:srgbClr val="1C1C1E"/>
                </a:solidFill>
                <a:latin typeface="Calibri"/>
              </a:rPr>
              <a:t>zeitlicher Train/Test-Split an 2025-01-01.</a:t>
            </a:r>
          </a:p>
          <a:p>
            <a:pPr algn="l">
              <a:spcAft>
                <a:spcPts val="800"/>
              </a:spcAft>
            </a:pPr>
            <a:r>
              <a:rPr sz="2400" b="1">
                <a:solidFill>
                  <a:srgbClr val="1C1C1E"/>
                </a:solidFill>
                <a:latin typeface="Calibri"/>
              </a:rPr>
              <a:t>Vier Detektoren + LLM-Pipeline: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11844000"/>
            <a:ext cx="2142000" cy="648000"/>
          </a:xfrm>
          <a:prstGeom prst="round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44000" bIns="144000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Z-Score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3200" y="11844000"/>
            <a:ext cx="2142000" cy="648000"/>
          </a:xfrm>
          <a:prstGeom prst="roundRect">
            <a:avLst/>
          </a:prstGeom>
          <a:solidFill>
            <a:srgbClr val="D62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44000" bIns="144000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ARIMA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6400" y="11844000"/>
            <a:ext cx="2142000" cy="648000"/>
          </a:xfrm>
          <a:prstGeom prst="roundRect">
            <a:avLst/>
          </a:prstGeom>
          <a:solidFill>
            <a:srgbClr val="2CA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44000" bIns="144000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Cluster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19600" y="11844000"/>
            <a:ext cx="2142000" cy="648000"/>
          </a:xfrm>
          <a:prstGeom prst="roundRect">
            <a:avLst/>
          </a:prstGeom>
          <a:solidFill>
            <a:srgbClr val="946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000" rIns="144000" tIns="144000" bIns="144000"/>
          <a:lstStyle/>
          <a:p>
            <a:pPr algn="ctr">
              <a:spcAft>
                <a:spcPts val="8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Autoencoder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" y="12636000"/>
            <a:ext cx="9360000" cy="1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1C1C1E"/>
                </a:solidFill>
                <a:latin typeface="Calibri"/>
              </a:rPr>
              <a:t>RLM → STL / Features → vier Methoden → </a:t>
            </a:r>
            <a:r>
              <a:rPr sz="2200" b="1">
                <a:solidFill>
                  <a:srgbClr val="007AFF"/>
                </a:solidFill>
                <a:latin typeface="Calibri"/>
              </a:rPr>
              <a:t>Union-Ensemble</a:t>
            </a:r>
            <a:r>
              <a:rPr sz="2200" b="0">
                <a:solidFill>
                  <a:srgbClr val="1C1C1E"/>
                </a:solidFill>
                <a:latin typeface="Calibri"/>
              </a:rPr>
              <a:t> → LLM-Empfehlung (Qwen 2.5 7B, lokal über Ollama).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8000" y="3456000"/>
            <a:ext cx="9360000" cy="503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07AFF"/>
                </a:solidFill>
                <a:latin typeface="Calibri"/>
              </a:rPr>
              <a:t>3 · Ergebnis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58000" y="3960000"/>
            <a:ext cx="9360000" cy="158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1C1C1E"/>
                </a:solidFill>
                <a:latin typeface="Calibri"/>
              </a:rPr>
              <a:t>Vier Methoden komplementär: </a:t>
            </a:r>
            <a:r>
              <a:rPr sz="2400" b="0">
                <a:solidFill>
                  <a:srgbClr val="1C1C1E"/>
                </a:solidFill>
                <a:latin typeface="Calibri"/>
              </a:rPr>
              <a:t>κ ≈ 0 paarweise (max. 0,11) → disjunkte Anomalien, kein Einzelsieger.</a:t>
            </a:r>
          </a:p>
          <a:p>
            <a:pPr algn="l">
              <a:spcAft>
                <a:spcPts val="800"/>
              </a:spcAft>
            </a:pPr>
            <a:r>
              <a:rPr sz="2400" b="1">
                <a:solidFill>
                  <a:srgbClr val="1C1C1E"/>
                </a:solidFill>
                <a:latin typeface="Calibri"/>
              </a:rPr>
              <a:t>Precision 100 % </a:t>
            </a:r>
            <a:r>
              <a:rPr sz="2400" b="0">
                <a:solidFill>
                  <a:srgbClr val="1C1C1E"/>
                </a:solidFill>
                <a:latin typeface="Calibri"/>
              </a:rPr>
              <a:t>über alle vier Methoden (66 Kandidaten manuell bestätigt).</a:t>
            </a:r>
          </a:p>
        </p:txBody>
      </p:sp>
      <p:pic>
        <p:nvPicPr>
          <p:cNvPr id="17" name="Picture 16" descr="06_kappa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8000" y="5652000"/>
            <a:ext cx="9360000" cy="178285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458000" y="7487999"/>
            <a:ext cx="93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8E8E93"/>
                </a:solidFill>
                <a:latin typeface="Calibri"/>
              </a:rPr>
              <a:t>Abb. 1: Paarweise Übereinstimmung (Cohen’s κ).</a:t>
            </a:r>
          </a:p>
        </p:txBody>
      </p:sp>
      <p:pic>
        <p:nvPicPr>
          <p:cNvPr id="19" name="Picture 18" descr="06_sweep_flag_r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7999" y="7920000"/>
            <a:ext cx="6480000" cy="3600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458000" y="11556000"/>
            <a:ext cx="9360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8E8E93"/>
                </a:solidFill>
                <a:latin typeface="Calibri"/>
              </a:rPr>
              <a:t>Abb. 2: Flag-Rate über X — Sweet-Spot bei X = 0,25. Autoencoder ~20× schneller als ARIMA.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58000" y="12024000"/>
            <a:ext cx="9360000" cy="2951999"/>
          </a:xfrm>
          <a:prstGeom prst="roundRect">
            <a:avLst/>
          </a:prstGeom>
          <a:solidFill>
            <a:srgbClr val="F2F2F7"/>
          </a:solidFill>
          <a:ln w="1905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4000" rIns="144000" tIns="144000" bIns="144000"/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007AFF"/>
                </a:solidFill>
                <a:latin typeface="Calibri"/>
              </a:rPr>
              <a:t>LLM-Pipeline: 66/66 erfolgreich · 0 Schemafehler · 6,6 s/Anomalie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C1C1E"/>
                </a:solidFill>
                <a:latin typeface="Calibri"/>
              </a:rPr>
              <a:t>Beispiel — Baumarkt_03, nachts: </a:t>
            </a:r>
            <a:r>
              <a:rPr sz="2000" b="0">
                <a:solidFill>
                  <a:srgbClr val="1C1C1E"/>
                </a:solidFill>
                <a:latin typeface="Calibri"/>
              </a:rPr>
              <a:t>72,6 kW statt 8,0 kW erwartet (+807 %), Mehrkosten 31,35 €.</a:t>
            </a:r>
          </a:p>
          <a:p>
            <a:pPr algn="l">
              <a:spcAft>
                <a:spcPts val="800"/>
              </a:spcAft>
            </a:pPr>
            <a:r>
              <a:rPr sz="2000" b="0">
                <a:solidFill>
                  <a:srgbClr val="1C1C1E"/>
                </a:solidFill>
                <a:latin typeface="Calibri"/>
              </a:rPr>
              <a:t>Ursache: HVAC-Nachtabsenkung nicht eingehalten · Schweregrad </a:t>
            </a:r>
            <a:r>
              <a:rPr sz="2000" b="1">
                <a:solidFill>
                  <a:srgbClr val="D62728"/>
                </a:solidFill>
                <a:latin typeface="Calibri"/>
              </a:rPr>
              <a:t>hoch</a:t>
            </a:r>
            <a:r>
              <a:rPr sz="2000" b="0">
                <a:solidFill>
                  <a:srgbClr val="1C1C1E"/>
                </a:solidFill>
                <a:latin typeface="Calibri"/>
              </a:rPr>
              <a:t> (Konfidenz 0,85).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376000" y="3456000"/>
            <a:ext cx="9360000" cy="16776000"/>
          </a:xfrm>
          <a:prstGeom prst="round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4000" rIns="144000" tIns="144000" bIns="144000"/>
          <a:lstStyle/>
          <a:p>
            <a:pPr algn="l">
              <a:spcAft>
                <a:spcPts val="14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4 · Schlussfolgerung &amp; Ausblick</a:t>
            </a:r>
          </a:p>
          <a:p>
            <a:pPr algn="l">
              <a:spcAft>
                <a:spcPts val="1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Ein Ensemble aus vier statistischen Methoden plus LLM-Pipeline ermöglicht plausible Anomalie-Erkennung mit konkreten Handlungsempfehlungen — erklärbar und ohne pro-Standort-Training.</a:t>
            </a:r>
          </a:p>
          <a:p>
            <a:pPr algn="l">
              <a:spcAft>
                <a:spcPts val="12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Praxis</a:t>
            </a:r>
            <a:r>
              <a:rPr sz="2500" b="0">
                <a:solidFill>
                  <a:srgbClr val="FFFFFF"/>
                </a:solidFill>
                <a:latin typeface="Calibri"/>
              </a:rPr>
              <a:t>: kostenbewertete, priorisierte Anomalien; Schwellwert-Regler ohne Neu-Inferenz.</a:t>
            </a:r>
          </a:p>
          <a:p>
            <a:pPr algn="l">
              <a:spcAft>
                <a:spcPts val="12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Nachhaltigkeit</a:t>
            </a:r>
            <a:r>
              <a:rPr sz="2500" b="0">
                <a:solidFill>
                  <a:srgbClr val="FFFFFF"/>
                </a:solidFill>
                <a:latin typeface="Calibri"/>
              </a:rPr>
              <a:t>: lokales LLM, kein Cloud-Abfluss, kein Trainings-Energieverbrauch (SDG 7 &amp; 9).</a:t>
            </a:r>
          </a:p>
          <a:p>
            <a:pPr algn="l">
              <a:spcAft>
                <a:spcPts val="8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Ausblick</a:t>
            </a:r>
            <a:r>
              <a:rPr sz="2500" b="0">
                <a:solidFill>
                  <a:srgbClr val="FFFFFF"/>
                </a:solidFill>
                <a:latin typeface="Calibri"/>
              </a:rPr>
              <a:t>: Übertragung auf weitere Kategorien (Tankstellen, Bürogebäude) als Folgeschritt.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20448000"/>
            <a:ext cx="30275999" cy="936000"/>
          </a:xfrm>
          <a:prstGeom prst="rect">
            <a:avLst/>
          </a:prstGeom>
          <a:solidFill>
            <a:srgbClr val="F2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4000" rIns="144000" tIns="144000" bIns="14400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0" y="20520000"/>
            <a:ext cx="29195999" cy="79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C1C1E"/>
                </a:solidFill>
                <a:latin typeface="Calibri"/>
              </a:rPr>
              <a:t>Referenzen: </a:t>
            </a:r>
            <a:r>
              <a:rPr sz="1600" b="0">
                <a:solidFill>
                  <a:srgbClr val="8E8E93"/>
                </a:solidFill>
                <a:latin typeface="Calibri"/>
              </a:rPr>
              <a:t>Chandola et al. (2009), Anomaly Detection: A Survey · Cleveland et al. (1990), STL-Dekomposition.    |    Datengrundlage und methodisches Feedback: Industriepartner aus dem Energiebereich.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